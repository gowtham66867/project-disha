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IDBI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84124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E6C9"/>
                </a:solidFill>
                <a:latin typeface="Calibri"/>
              </a:rPr>
              <a:t>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2070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6A817"/>
                </a:solidFill>
                <a:latin typeface="Calibri"/>
              </a:rPr>
              <a:t>Innovate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72768"/>
            <a:ext cx="2743200" cy="27432"/>
          </a:xfrm>
          <a:prstGeom prst="rect">
            <a:avLst/>
          </a:prstGeom>
          <a:solidFill>
            <a:srgbClr val="C8E6C9"/>
          </a:solidFill>
          <a:ln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8E6C9"/>
                </a:solidFill>
                <a:latin typeface="Calibri"/>
              </a:rPr>
              <a:t>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0116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DISHA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6A817"/>
                </a:solidFill>
                <a:latin typeface="Calibri"/>
              </a:rPr>
              <a:t>Prospect Assist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3063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E6C9"/>
                </a:solidFill>
                <a:latin typeface="Calibri"/>
              </a:rPr>
              <a:t>PS-2: AI-Powered Lead Scoring &amp; RM Copilot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74320"/>
            <a:ext cx="5120640" cy="777240"/>
          </a:xfrm>
          <a:prstGeom prst="rect">
            <a:avLst/>
          </a:prstGeom>
          <a:solidFill>
            <a:srgbClr val="D4EDDA"/>
          </a:solidFill>
          <a:ln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39" y="274320"/>
            <a:ext cx="45720" cy="77724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3291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6B65"/>
                </a:solidFill>
                <a:latin typeface="Calibri"/>
              </a:rPr>
              <a:t>Team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6217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NeuralOps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1161288"/>
            <a:ext cx="51206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1161288"/>
            <a:ext cx="45720" cy="77724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121615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6B65"/>
                </a:solidFill>
                <a:latin typeface="Calibri"/>
              </a:rPr>
              <a:t>Team Leader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5087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Gowtham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2048256"/>
            <a:ext cx="5120640" cy="777240"/>
          </a:xfrm>
          <a:prstGeom prst="rect">
            <a:avLst/>
          </a:prstGeom>
          <a:solidFill>
            <a:srgbClr val="D4EDDA"/>
          </a:solidFill>
          <a:ln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49039" y="2048256"/>
            <a:ext cx="45720" cy="77724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21031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6B65"/>
                </a:solidFill>
                <a:latin typeface="Calibri"/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23957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gowtham66866@gmail.com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2935224"/>
            <a:ext cx="51206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2935224"/>
            <a:ext cx="45720" cy="77724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299008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6B65"/>
                </a:solidFill>
                <a:latin typeface="Calibri"/>
              </a:rPr>
              <a:t>Problem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328269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PS-2: Prospect Assist 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39" y="3822192"/>
            <a:ext cx="5120640" cy="777240"/>
          </a:xfrm>
          <a:prstGeom prst="rect">
            <a:avLst/>
          </a:prstGeom>
          <a:solidFill>
            <a:srgbClr val="D4EDDA"/>
          </a:solidFill>
          <a:ln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49039" y="3822192"/>
            <a:ext cx="45720" cy="77724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387705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6B65"/>
                </a:solidFill>
                <a:latin typeface="Calibri"/>
              </a:rPr>
              <a:t>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416966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Banking Innovation — Retail Lending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4709160"/>
            <a:ext cx="51206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49039" y="4709160"/>
            <a:ext cx="45720" cy="77724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6200" y="476402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6B65"/>
                </a:solidFill>
                <a:latin typeface="Calibri"/>
              </a:rPr>
              <a:t>Submission 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50566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July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CF3EE"/>
          </a:solidFill>
          <a:ln>
            <a:solidFill>
              <a:srgbClr val="EC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490575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B65"/>
                </a:solidFill>
                <a:latin typeface="Calibri"/>
              </a:rPr>
              <a:t>Project Disha — IDBI Innovate 2026 | PS-2: Prospect Assist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Brief About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6C9"/>
                </a:solidFill>
                <a:latin typeface="Calibri"/>
              </a:rPr>
              <a:t>AI-powered lead intelligence platform for IDBI Bank Relationship Managers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IDBI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5029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6A817"/>
                </a:solidFill>
                <a:latin typeface="Calibri"/>
              </a:rPr>
              <a:t>PS-2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4114800" cy="3611880"/>
          </a:xfrm>
          <a:prstGeom prst="rect">
            <a:avLst/>
          </a:prstGeom>
          <a:solidFill>
            <a:srgbClr val="FDF6E3"/>
          </a:solidFill>
          <a:ln>
            <a:solidFill>
              <a:srgbClr val="FDF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97280"/>
            <a:ext cx="54864" cy="3611880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561B"/>
                </a:solidFill>
                <a:latin typeface="Calibr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IDBI Bank RMs manage hundreds of prospects without intelligent prioritisation. Key challenges:</a:t>
            </a:r>
          </a:p>
          <a:p>
            <a:pPr algn="l">
              <a:spcBef>
                <a:spcPts val="400"/>
              </a:spcBef>
            </a:pP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▸  No data-driven lead scoring — RMs rely on gut instinct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▸  Cold prospects go stale — no proactive re-engagement triggers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▸  Every RM starts fresh — zero institutional memory per prospect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▸  Manual product matching — misaligned recommendations erode trust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▸  No audit trail — compliance gaps in decision recording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97280"/>
            <a:ext cx="4297680" cy="3611880"/>
          </a:xfrm>
          <a:prstGeom prst="rect">
            <a:avLst/>
          </a:prstGeom>
          <a:solidFill>
            <a:srgbClr val="D4EDDA"/>
          </a:solidFill>
          <a:ln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097280"/>
            <a:ext cx="54864" cy="361188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1887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8158"/>
                </a:solidFill>
                <a:latin typeface="Calibri"/>
              </a:rPr>
              <a:t>The Solution — Project Disha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572768"/>
            <a:ext cx="4023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Disha ("direction" in Hindi) is an AI-native RM copilot that:</a:t>
            </a:r>
          </a:p>
          <a:p>
            <a:pPr algn="l">
              <a:spcBef>
                <a:spcPts val="400"/>
              </a:spcBef>
            </a:pPr>
          </a:p>
          <a:p>
            <a:pPr algn="l"/>
            <a:r>
              <a:rPr sz="1100" b="1">
                <a:solidFill>
                  <a:srgbClr val="0D3B2F"/>
                </a:solidFill>
                <a:latin typeface="Calibri"/>
              </a:rPr>
              <a:t>✓  Scores 386+ prospects on a 0–100 scale (7-component engine)</a:t>
            </a:r>
          </a:p>
          <a:p>
            <a:pPr algn="l"/>
            <a:r>
              <a:rPr sz="1100" b="1">
                <a:solidFill>
                  <a:srgbClr val="0D3B2F"/>
                </a:solidFill>
                <a:latin typeface="Calibri"/>
              </a:rPr>
              <a:t>✓  Recommends best product × channel × timing (Next Best Action)</a:t>
            </a:r>
          </a:p>
          <a:p>
            <a:pPr algn="l"/>
            <a:r>
              <a:rPr sz="1100" b="1">
                <a:solidFill>
                  <a:srgbClr val="0D3B2F"/>
                </a:solidFill>
                <a:latin typeface="Calibri"/>
              </a:rPr>
              <a:t>✓  Answers RM questions in natural language via AI copilot</a:t>
            </a:r>
          </a:p>
          <a:p>
            <a:pPr algn="l"/>
            <a:r>
              <a:rPr sz="1100" b="1">
                <a:solidFill>
                  <a:srgbClr val="0D3B2F"/>
                </a:solidFill>
                <a:latin typeface="Calibri"/>
              </a:rPr>
              <a:t>✓  Re-engages cold prospects automatically with personalised scripts</a:t>
            </a:r>
          </a:p>
          <a:p>
            <a:pPr algn="l"/>
            <a:r>
              <a:rPr sz="1100" b="1">
                <a:solidFill>
                  <a:srgbClr val="0D3B2F"/>
                </a:solidFill>
                <a:latin typeface="Calibri"/>
              </a:rPr>
              <a:t>✓  Maintains append-only audit logs with DB-level immutability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663440"/>
            <a:ext cx="9144000" cy="22860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0" y="46634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FFFFFF"/>
                </a:solidFill>
                <a:latin typeface="Calibri"/>
              </a:rPr>
              <a:t>"Right prospect. Right product. Right moment."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CF3EE"/>
          </a:solidFill>
          <a:ln>
            <a:solidFill>
              <a:srgbClr val="EC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490575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B65"/>
                </a:solidFill>
                <a:latin typeface="Calibri"/>
              </a:rPr>
              <a:t>Project Disha — IDBI Innovate 2026 | PS-2: Prospect Assist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Opportunities &amp; USP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6C9"/>
                </a:solidFill>
                <a:latin typeface="Calibri"/>
              </a:rPr>
              <a:t>How Disha stands apart from existing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IDBI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5029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6A817"/>
                </a:solidFill>
                <a:latin typeface="Calibri"/>
              </a:rPr>
              <a:t>PS-2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2788920" cy="150876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1704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Market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15087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IDBI's retail loan pipeline has high lead attrition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₹ billions in untapped cross-sell opportunity per RM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Human capacity to score 500+ prospects is near zero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097280"/>
            <a:ext cx="2788920" cy="1508760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4408" y="11704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Differentiation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15087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Explainable scores — RM sees WHY (SHAP-style contributions)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Multi-agent: scoring + NBA + copilot run in parallel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Org-specific ML weights trained on IDBI prospect patterns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097280"/>
            <a:ext cx="2788920" cy="1508760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11704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15087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DVR loop: Claude drafts → verifies → refines every answer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Episodic memory per prospect across RM sessions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Cold-prospect re-engagement via WhatsApp / SMS scripts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27889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8158"/>
                </a:solidFill>
                <a:latin typeface="Calibri"/>
              </a:rPr>
              <a:t>How Disha Solves the Problem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200400"/>
            <a:ext cx="2788920" cy="56692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200400"/>
            <a:ext cx="36576" cy="566928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32369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8158"/>
                </a:solidFill>
                <a:latin typeface="Calibri"/>
              </a:rPr>
              <a:t>1. Ingest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" y="345643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Pluggable data adapter reads prospect data (synthetic or IDBI sandbox)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80" y="3200400"/>
            <a:ext cx="2788920" cy="56692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54680" y="3200400"/>
            <a:ext cx="36576" cy="566928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64408" y="32369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8158"/>
                </a:solidFill>
                <a:latin typeface="Calibri"/>
              </a:rPr>
              <a:t>2.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4408" y="345643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7-component scorecard → 0–100 band (Hot/Warm/Lukewarm/Cold)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200400"/>
            <a:ext cx="2788920" cy="56692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3200400"/>
            <a:ext cx="36576" cy="566928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32369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8158"/>
                </a:solidFill>
                <a:latin typeface="Calibri"/>
              </a:rPr>
              <a:t>3. Recommend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0488" y="345643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NBA engine picks product × channel × timing per prospect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858768"/>
            <a:ext cx="2788920" cy="56692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58768"/>
            <a:ext cx="36576" cy="566928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" y="3895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8158"/>
                </a:solidFill>
                <a:latin typeface="Calibri"/>
              </a:rPr>
              <a:t>4. Explain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" y="41148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SHAP-style breakdown shows RM exactly what drives the 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4680" y="3858768"/>
            <a:ext cx="2788920" cy="56692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54680" y="3858768"/>
            <a:ext cx="36576" cy="566928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64408" y="3895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8158"/>
                </a:solidFill>
                <a:latin typeface="Calibri"/>
              </a:rPr>
              <a:t>5. Converse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64408" y="41148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DVR-loop copilot answers RM questions with verified, fact-grounded replies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3858768"/>
            <a:ext cx="2788920" cy="56692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60" y="3858768"/>
            <a:ext cx="36576" cy="566928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0488" y="3895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8158"/>
                </a:solidFill>
                <a:latin typeface="Calibri"/>
              </a:rPr>
              <a:t>6. Re-engage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0488" y="41148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Urgency agent auto-drafts WhatsApp + SMS scripts for cold prospects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CF3EE"/>
          </a:solidFill>
          <a:ln>
            <a:solidFill>
              <a:srgbClr val="EC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8600" y="490575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B65"/>
                </a:solidFill>
                <a:latin typeface="Calibri"/>
              </a:rPr>
              <a:t>Project Disha — IDBI Innovate 2026 | PS-2: Prospect Assist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6C9"/>
                </a:solidFill>
                <a:latin typeface="Calibri"/>
              </a:rPr>
              <a:t>Five production-grade AI capabilities built into Disha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IDBI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5029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6A817"/>
                </a:solidFill>
                <a:latin typeface="Calibri"/>
              </a:rPr>
              <a:t>PS-2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2788920" cy="36576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4300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🎯  Lead Scoring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463040"/>
            <a:ext cx="2788920" cy="14173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508760"/>
            <a:ext cx="2606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7-component weighted scorecard (income, CIBIL, digital activity,</a:t>
            </a:r>
          </a:p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recency, segment, loan enquiries, life event)</a:t>
            </a:r>
          </a:p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Deterministic + explainable — no black-box models</a:t>
            </a:r>
          </a:p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SHAP-style signed contribution breakdown per prospect</a:t>
            </a:r>
          </a:p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Score version tagging for reproducibility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097280"/>
            <a:ext cx="2788920" cy="365760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14300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🤖  Multi-Agent Orchestrator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1463040"/>
            <a:ext cx="2788920" cy="14173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508760"/>
            <a:ext cx="2606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ProspectOrchestrator → ScoringAgent + NBAAgent (asyncio.gather)</a:t>
            </a:r>
          </a:p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Next Best Action: product × channel × timing recommendation</a:t>
            </a:r>
          </a:p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Priority reason derived from top score driver</a:t>
            </a:r>
          </a:p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Latency tracked per orchestration run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097280"/>
            <a:ext cx="2788920" cy="365760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14300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💬  AI Copilot (DVR Loop)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463040"/>
            <a:ext cx="2788920" cy="14173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508760"/>
            <a:ext cx="2606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System-2 Draft → Verify → Refine on every RM question</a:t>
            </a:r>
          </a:p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Claude tool-use (up to 4 rounds) for prospect data lookup</a:t>
            </a:r>
          </a:p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Second LLM pass verifies factual accuracy before reply</a:t>
            </a:r>
          </a:p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Multi-provider: Claude → Gemini → rule-based fallback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017520"/>
            <a:ext cx="2788920" cy="365760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06324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🧠  Episodic Memory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383280"/>
            <a:ext cx="2788920" cy="14173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429000"/>
            <a:ext cx="2606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CopilotMemory table persists RM↔Disha turns per prospect</a:t>
            </a:r>
          </a:p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Last 6 turns injected as context in every new copilot call</a:t>
            </a:r>
          </a:p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Memory is RM-scoped — different RMs, different histories</a:t>
            </a:r>
          </a:p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Full history retrieval via API endpoint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3017520"/>
            <a:ext cx="2788920" cy="365760"/>
          </a:xfrm>
          <a:prstGeom prst="rect">
            <a:avLst/>
          </a:prstGeom>
          <a:solidFill>
            <a:srgbClr val="6D2E46"/>
          </a:solidFill>
          <a:ln>
            <a:solidFill>
              <a:srgbClr val="6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306324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📨  Cold Re-engagement 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3383280"/>
            <a:ext cx="2788920" cy="14173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3429000"/>
            <a:ext cx="2606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Urgency scoring: days since contact + life event + band</a:t>
            </a:r>
          </a:p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Auto-generates personalised WhatsApp + SMS scripts</a:t>
            </a:r>
          </a:p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CPaaS webhook dispatch (configurable, logs if not set)</a:t>
            </a:r>
          </a:p>
          <a:p>
            <a:pPr algn="l"/>
            <a:r>
              <a:rPr sz="900" b="0">
                <a:solidFill>
                  <a:srgbClr val="1A1A2E"/>
                </a:solidFill>
                <a:latin typeface="Calibri"/>
              </a:rPr>
              <a:t>• Audit-logged nudge sends to interaction log 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CF3EE"/>
          </a:solidFill>
          <a:ln>
            <a:solidFill>
              <a:srgbClr val="EC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" y="490575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B65"/>
                </a:solidFill>
                <a:latin typeface="Calibri"/>
              </a:rPr>
              <a:t>Project Disha — IDBI Innovate 2026 | PS-2: Prospect Assist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6C9"/>
                </a:solidFill>
                <a:latin typeface="Calibri"/>
              </a:rPr>
              <a:t>End-to-end prospect journey through Disha's multi-agent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IDBI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5029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6A817"/>
                </a:solidFill>
                <a:latin typeface="Calibri"/>
              </a:rPr>
              <a:t>PS-2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371600"/>
            <a:ext cx="1234440" cy="100584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481328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
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02996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8E6C9"/>
                </a:solidFill>
                <a:latin typeface="Calibri"/>
              </a:rPr>
              <a:t>Synthetic /
IDBI Sandbox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45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58158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1371600"/>
            <a:ext cx="1234440" cy="1005840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1481328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Scoring
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02996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8E6C9"/>
                </a:solidFill>
                <a:latin typeface="Calibri"/>
              </a:rPr>
              <a:t>7-component
scorecard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645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5815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371600"/>
            <a:ext cx="1234440" cy="1005840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481328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NBA
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02996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8E6C9"/>
                </a:solidFill>
                <a:latin typeface="Calibri"/>
              </a:rPr>
              <a:t>Product ×
Channel ×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645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5815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1371600"/>
            <a:ext cx="1234440" cy="1005840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481328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RM
Copilot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02996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8E6C9"/>
                </a:solidFill>
                <a:latin typeface="Calibri"/>
              </a:rPr>
              <a:t>DVR loop +
Episodic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1645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58158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371600"/>
            <a:ext cx="1234440" cy="1005840"/>
          </a:xfrm>
          <a:prstGeom prst="rect">
            <a:avLst/>
          </a:prstGeom>
          <a:solidFill>
            <a:srgbClr val="6D2E46"/>
          </a:solidFill>
          <a:ln>
            <a:solidFill>
              <a:srgbClr val="6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481328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Re-engage
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02996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8E6C9"/>
                </a:solidFill>
                <a:latin typeface="Calibri"/>
              </a:rPr>
              <a:t>Cold prospect
WhatsApp/SMS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16459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58158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371600"/>
            <a:ext cx="1234440" cy="1005840"/>
          </a:xfrm>
          <a:prstGeom prst="rect">
            <a:avLst/>
          </a:prstGeom>
          <a:solidFill>
            <a:srgbClr val="36454F"/>
          </a:solidFill>
          <a:ln>
            <a:solidFill>
              <a:srgbClr val="364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1481328"/>
            <a:ext cx="1234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Audit
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02996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8E6C9"/>
                </a:solidFill>
                <a:latin typeface="Calibri"/>
              </a:rPr>
              <a:t>Append-only
DB triggers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37360" y="2560320"/>
            <a:ext cx="2651760" cy="347472"/>
          </a:xfrm>
          <a:prstGeom prst="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2606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58158"/>
                </a:solidFill>
                <a:latin typeface="Calibri"/>
              </a:rPr>
              <a:t>⚡ ScoringAgent + NBAAgent run in parallel via asyncio.gather()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063240"/>
            <a:ext cx="8686800" cy="16459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1272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8158"/>
                </a:solidFill>
                <a:latin typeface="Calibri"/>
              </a:rPr>
              <a:t>DVR Loop (System-2 Reasoning in Copilot Agent)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493008"/>
            <a:ext cx="1920240" cy="256032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5112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37947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Claude tool-use fetches
prospect data (≤4 rounds)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3566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B65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14600" y="3493008"/>
            <a:ext cx="1920240" cy="256032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14600" y="35112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37947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Second LLM pass checks
facts vs. raw score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3566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B65"/>
                </a:solidFill>
                <a:latin typeface="Calibr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3493008"/>
            <a:ext cx="1920240" cy="256032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0" y="35112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REFINE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37947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Final answer delivered
to RM — always grounded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566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B65"/>
                </a:solidFill>
                <a:latin typeface="Calibr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12280" y="3493008"/>
            <a:ext cx="1920240" cy="256032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12280" y="3511296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PERSIST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37947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Turn saved to episodic
memory (CopilotMemory)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CF3EE"/>
          </a:solidFill>
          <a:ln>
            <a:solidFill>
              <a:srgbClr val="EC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8600" y="490575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B65"/>
                </a:solidFill>
                <a:latin typeface="Calibri"/>
              </a:rPr>
              <a:t>Project Disha — IDBI Innovate 2026 | PS-2: Prospect Assist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Wireframes / Mock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6C9"/>
                </a:solidFill>
                <a:latin typeface="Calibri"/>
              </a:rPr>
              <a:t>React + TypeScript UI — Dashboard, Prospect Detail, Copilot widget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IDBI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5029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6A817"/>
                </a:solidFill>
                <a:latin typeface="Calibri"/>
              </a:rPr>
              <a:t>PS-2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4160520" cy="36118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51560"/>
            <a:ext cx="4160520" cy="292608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698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Dashboard — Pipeline 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896112" cy="548640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435608"/>
            <a:ext cx="896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737360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Hot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07592" y="1417320"/>
            <a:ext cx="896112" cy="548640"/>
          </a:xfrm>
          <a:prstGeom prst="rect">
            <a:avLst/>
          </a:prstGeom>
          <a:solidFill>
            <a:srgbClr val="E6A817"/>
          </a:solidFill>
          <a:ln>
            <a:solidFill>
              <a:srgbClr val="E6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07592" y="1435608"/>
            <a:ext cx="896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1737360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Warm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95144" y="1417320"/>
            <a:ext cx="896112" cy="548640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95144" y="1435608"/>
            <a:ext cx="896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95144" y="1737360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Lukewarm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82696" y="1417320"/>
            <a:ext cx="896112" cy="54864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82696" y="1435608"/>
            <a:ext cx="896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2696" y="1737360"/>
            <a:ext cx="8961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Cold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084831"/>
            <a:ext cx="3977639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084831"/>
            <a:ext cx="36576" cy="502920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157983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Calibri"/>
              </a:rPr>
              <a:t>Rajesh Kumar — 78 🔥 Home Loan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2386583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B65"/>
                </a:solidFill>
                <a:latin typeface="Calibri"/>
              </a:rPr>
              <a:t>RM: RM01 | Mumbai | ₹18L income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651759"/>
            <a:ext cx="3977639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2651759"/>
            <a:ext cx="36576" cy="502920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2724911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Priya Sharma — 62 🌡 ELSS SIP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2953511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B65"/>
                </a:solidFill>
                <a:latin typeface="Calibri"/>
              </a:rPr>
              <a:t>RM: RM01 | Mumbai | ₹18L income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218687"/>
            <a:ext cx="3977639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3218687"/>
            <a:ext cx="36576" cy="502920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291839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Arun Singh — 45 💤 Fixed Deposit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3520439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B65"/>
                </a:solidFill>
                <a:latin typeface="Calibri"/>
              </a:rPr>
              <a:t>RM: RM01 | Mumbai | ₹18L income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1051560"/>
            <a:ext cx="4297680" cy="219456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17720" y="1051560"/>
            <a:ext cx="4297680" cy="292608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106984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Prospect Detail — Score Breakdown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14356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Income Band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1490472"/>
            <a:ext cx="1485900" cy="18288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32420" y="143560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8158"/>
                </a:solidFill>
                <a:latin typeface="Calibri"/>
              </a:rPr>
              <a:t>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17647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CIBIL Score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1819656"/>
            <a:ext cx="1307592" cy="182880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54112" y="1764792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8DC7"/>
                </a:solidFill>
                <a:latin typeface="Calibri"/>
              </a:rPr>
              <a:t>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20939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Digital Activity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2148840"/>
            <a:ext cx="832104" cy="182880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78624" y="2093976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D561B"/>
                </a:solidFill>
                <a:latin typeface="Calibri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60" y="24231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Recency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2478024"/>
            <a:ext cx="594360" cy="182880"/>
          </a:xfrm>
          <a:prstGeom prst="rect">
            <a:avLst/>
          </a:prstGeom>
          <a:solidFill>
            <a:srgbClr val="E6A817"/>
          </a:solidFill>
          <a:ln>
            <a:solidFill>
              <a:srgbClr val="E6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40880" y="2423160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A817"/>
                </a:solidFill>
                <a:latin typeface="Calibri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60" y="27523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Life Event Boost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2807208"/>
            <a:ext cx="594360" cy="182880"/>
          </a:xfrm>
          <a:prstGeom prst="rect">
            <a:avLst/>
          </a:prstGeom>
          <a:solidFill>
            <a:srgbClr val="6D2E46"/>
          </a:solidFill>
          <a:ln>
            <a:solidFill>
              <a:srgbClr val="6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0" y="2752344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D2E46"/>
                </a:solidFill>
                <a:latin typeface="Calibri"/>
              </a:rPr>
              <a:t>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17720" y="3364992"/>
            <a:ext cx="4297680" cy="129844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617720" y="3364992"/>
            <a:ext cx="4297680" cy="292608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09160" y="33832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AI Copilot — Disha Assistant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09160" y="3712463"/>
            <a:ext cx="41148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54880" y="3749039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B65"/>
                </a:solidFill>
                <a:latin typeface="Calibri"/>
              </a:rPr>
              <a:t>RM: Should I call Rajesh today?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09160" y="4114800"/>
            <a:ext cx="4114800" cy="411480"/>
          </a:xfrm>
          <a:prstGeom prst="rect">
            <a:avLst/>
          </a:prstGeom>
          <a:solidFill>
            <a:srgbClr val="D4EDDA"/>
          </a:solidFill>
          <a:ln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0" y="4133087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3B2F"/>
                </a:solidFill>
                <a:latin typeface="Calibri"/>
              </a:rPr>
              <a:t>Disha: Yes — score 78 (Hot), home purchase event active. Recommend Home Loan ₹50L.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CF3EE"/>
          </a:solidFill>
          <a:ln>
            <a:solidFill>
              <a:srgbClr val="EC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600" y="490575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B65"/>
                </a:solidFill>
                <a:latin typeface="Calibri"/>
              </a:rPr>
              <a:t>Project Disha — IDBI Innovate 2026 | PS-2: Prospect Assist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6C9"/>
                </a:solidFill>
                <a:latin typeface="Calibri"/>
              </a:rPr>
              <a:t>Multi-agent microservice — FastAPI + React on Google Cloud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IDBI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5029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6A817"/>
                </a:solidFill>
                <a:latin typeface="Calibri"/>
              </a:rPr>
              <a:t>PS-2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97280"/>
            <a:ext cx="1664208" cy="32004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115568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PRESENTATION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417320"/>
            <a:ext cx="1664208" cy="310896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508760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508760"/>
            <a:ext cx="45720" cy="384048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581912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React 18 + TypeScript + Vite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984248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1984248"/>
            <a:ext cx="45720" cy="384048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2057400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Tailwind CSS 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459736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2459736"/>
            <a:ext cx="45720" cy="384048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532888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ScoreGauge SVG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2935224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2935224"/>
            <a:ext cx="45720" cy="384048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008376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Copilot Chat Widget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92808" y="1097280"/>
            <a:ext cx="1664208" cy="320040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38528" y="1115568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API GATEWAY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92808" y="1417320"/>
            <a:ext cx="1664208" cy="310896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65960" y="1508760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65960" y="1508760"/>
            <a:ext cx="45720" cy="384048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57400" y="1581912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FastAPI v0.115 REST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65960" y="1984248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65960" y="1984248"/>
            <a:ext cx="45720" cy="384048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57400" y="2057400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/api/v1/prospects  /score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65960" y="2459736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65960" y="2459736"/>
            <a:ext cx="45720" cy="384048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2532888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/copilot  /pipeline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65960" y="2935224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65960" y="2935224"/>
            <a:ext cx="45720" cy="384048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3008376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/reengagement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02736" y="1097280"/>
            <a:ext cx="1664208" cy="320040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48456" y="1115568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MULTI-AGENT CORE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02736" y="1417320"/>
            <a:ext cx="1664208" cy="310896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75888" y="1508760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75888" y="1508760"/>
            <a:ext cx="45720" cy="384048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67328" y="1581912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ProspectOrchestrator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75888" y="1984248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75888" y="1984248"/>
            <a:ext cx="45720" cy="384048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67328" y="2057400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ScoringAgent + NBAAgent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75888" y="2459736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75888" y="2459736"/>
            <a:ext cx="45720" cy="384048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67328" y="2532888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DVR Copilot (LLMGovernor)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75888" y="2935224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675888" y="2935224"/>
            <a:ext cx="45720" cy="384048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67328" y="3008376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ReEngagement Agent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12664" y="1097280"/>
            <a:ext cx="1664208" cy="320040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58384" y="1115568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DATA &amp; MEMORY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12664" y="1417320"/>
            <a:ext cx="1664208" cy="310896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85816" y="1508760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385816" y="1508760"/>
            <a:ext cx="45720" cy="384048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77256" y="1581912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SQLAlchemy 2.0 ORM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85816" y="1984248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385816" y="1984248"/>
            <a:ext cx="45720" cy="384048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77256" y="2057400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CopilotMemory (episodic)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85816" y="2459736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85816" y="2459736"/>
            <a:ext cx="45720" cy="384048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77256" y="2532888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InteractionLog (audit)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85816" y="2935224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85816" y="2935224"/>
            <a:ext cx="45720" cy="384048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77256" y="3008376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DB-level triggers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22592" y="1097280"/>
            <a:ext cx="1664208" cy="320040"/>
          </a:xfrm>
          <a:prstGeom prst="rect">
            <a:avLst/>
          </a:prstGeom>
          <a:solidFill>
            <a:srgbClr val="36454F"/>
          </a:solidFill>
          <a:ln>
            <a:solidFill>
              <a:srgbClr val="364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068312" y="1115568"/>
            <a:ext cx="15727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INFRA / LLM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22592" y="1417320"/>
            <a:ext cx="1664208" cy="310896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095744" y="1508760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095744" y="1508760"/>
            <a:ext cx="45720" cy="384048"/>
          </a:xfrm>
          <a:prstGeom prst="rect">
            <a:avLst/>
          </a:prstGeom>
          <a:solidFill>
            <a:srgbClr val="36454F"/>
          </a:solidFill>
          <a:ln>
            <a:solidFill>
              <a:srgbClr val="364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87184" y="1581912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Google Cloud Run (asia-south1)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95744" y="1984248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95744" y="1984248"/>
            <a:ext cx="45720" cy="384048"/>
          </a:xfrm>
          <a:prstGeom prst="rect">
            <a:avLst/>
          </a:prstGeom>
          <a:solidFill>
            <a:srgbClr val="36454F"/>
          </a:solidFill>
          <a:ln>
            <a:solidFill>
              <a:srgbClr val="364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87184" y="2057400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Claude Haiku + Gemini Flash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095744" y="2459736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95744" y="2459736"/>
            <a:ext cx="45720" cy="384048"/>
          </a:xfrm>
          <a:prstGeom prst="rect">
            <a:avLst/>
          </a:prstGeom>
          <a:solidFill>
            <a:srgbClr val="36454F"/>
          </a:solidFill>
          <a:ln>
            <a:solidFill>
              <a:srgbClr val="364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87184" y="2532888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SQLite (dev) / PostgreSQL (prod)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95744" y="2935224"/>
            <a:ext cx="1517904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95744" y="2935224"/>
            <a:ext cx="45720" cy="384048"/>
          </a:xfrm>
          <a:prstGeom prst="rect">
            <a:avLst/>
          </a:prstGeom>
          <a:solidFill>
            <a:srgbClr val="36454F"/>
          </a:solidFill>
          <a:ln>
            <a:solidFill>
              <a:srgbClr val="364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187184" y="3008376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Calibri"/>
              </a:rPr>
              <a:t>GitHub Actions CI/CD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2880" y="4645152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6B65"/>
                </a:solidFill>
                <a:latin typeface="Calibri"/>
              </a:rPr>
              <a:t>← Data Flow (top-down) →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CF3EE"/>
          </a:solidFill>
          <a:ln>
            <a:solidFill>
              <a:srgbClr val="EC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28600" y="490575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B65"/>
                </a:solidFill>
                <a:latin typeface="Calibri"/>
              </a:rPr>
              <a:t>Project Disha — IDBI Innovate 2026 | PS-2: Prospect Assist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6C9"/>
                </a:solidFill>
                <a:latin typeface="Calibri"/>
              </a:rPr>
              <a:t>Production-grade open-source stack + enterprise AI providers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IDBI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5029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6A817"/>
                </a:solidFill>
                <a:latin typeface="Calibri"/>
              </a:rPr>
              <a:t>PS-2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43000"/>
            <a:ext cx="2788920" cy="347472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18872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490472"/>
            <a:ext cx="2788920" cy="138988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55448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Python 3.9+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801368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FastAPI 0.115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2048256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SQLAlchemy 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295144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Pydantic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2542032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Uvicorn ASGI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1143000"/>
            <a:ext cx="2788920" cy="347472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118872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 / LLM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54680" y="1490472"/>
            <a:ext cx="2788920" cy="138988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64408" y="155448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Anthropic Claude Haiku 4.5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1801368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Google Gemini 1.5 Flash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4408" y="2048256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Rule-based fallback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4408" y="2295144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LLMGovernor (multi-provider)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1143000"/>
            <a:ext cx="2788920" cy="347472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1188720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490472"/>
            <a:ext cx="2788920" cy="138988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155448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React 18 + TypeScript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1801368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Vite build tool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2048256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Tailwind CSS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0488" y="2295144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SVG ScoreGauge component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017519"/>
            <a:ext cx="2788920" cy="347472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3063239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364991"/>
            <a:ext cx="2788920" cy="138988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" y="3428999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SQLite (dev / test)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" y="3675887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PostgreSQL (prod-ready)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" y="3922775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Alembic migrations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" y="4169663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DB-level audit triggers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80" y="3017519"/>
            <a:ext cx="2788920" cy="347472"/>
          </a:xfrm>
          <a:prstGeom prst="rect">
            <a:avLst/>
          </a:prstGeom>
          <a:solidFill>
            <a:srgbClr val="36454F"/>
          </a:solidFill>
          <a:ln>
            <a:solidFill>
              <a:srgbClr val="364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54680" y="3063239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DevOps / Cloud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54680" y="3364991"/>
            <a:ext cx="2788920" cy="138988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64408" y="3428999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Google Cloud Run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64408" y="3675887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GitHub Actions CI (py3.9+3.12)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64408" y="3922775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Docker (root Dockerfile)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64408" y="4169663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asia-south1 region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80760" y="3017519"/>
            <a:ext cx="2788920" cy="347472"/>
          </a:xfrm>
          <a:prstGeom prst="rect">
            <a:avLst/>
          </a:prstGeom>
          <a:solidFill>
            <a:srgbClr val="6D2E46"/>
          </a:solidFill>
          <a:ln>
            <a:solidFill>
              <a:srgbClr val="6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3063239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Testing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3364991"/>
            <a:ext cx="2788920" cy="138988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0488" y="3428999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pytest + httpx TestClient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0488" y="3675887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30+ unit / integration tests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0488" y="3922775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Fairness regression suite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90488" y="4169663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• Audit immutability tests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CF3EE"/>
          </a:solidFill>
          <a:ln>
            <a:solidFill>
              <a:srgbClr val="EC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8600" y="490575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B65"/>
                </a:solidFill>
                <a:latin typeface="Calibri"/>
              </a:rPr>
              <a:t>Project Disha — IDBI Innovate 2026 | PS-2: Prospect Assist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Estimated Implementation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6C9"/>
                </a:solidFill>
                <a:latin typeface="Calibri"/>
              </a:rPr>
              <a:t>Cloud-native serverless stack — scales to zero, pay-per-use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IDBI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5029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6A817"/>
                </a:solidFill>
                <a:latin typeface="Calibri"/>
              </a:rPr>
              <a:t>PS-2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43000"/>
            <a:ext cx="86868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143000"/>
            <a:ext cx="54864" cy="50292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Google Cloud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18872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B65"/>
                </a:solidFill>
                <a:latin typeface="Calibri"/>
              </a:rPr>
              <a:t>asia-south1, 1 vCPU, 512 MB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188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A1A2E"/>
                </a:solidFill>
                <a:latin typeface="Calibri"/>
              </a:rPr>
              <a:t>~₹800 / month (low traffic)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09928"/>
            <a:ext cx="86868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1709928"/>
            <a:ext cx="54864" cy="502920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7556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Cloud SQL (PostgreSQL)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7556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B65"/>
                </a:solidFill>
                <a:latin typeface="Calibri"/>
              </a:rPr>
              <a:t>db-f1-micro, 10 GB SSD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7556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A1A2E"/>
                </a:solidFill>
                <a:latin typeface="Calibri"/>
              </a:rPr>
              <a:t>~₹1,200 / month (prod)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276856"/>
            <a:ext cx="86868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2276856"/>
            <a:ext cx="54864" cy="502920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32257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Anthropic Claude Haiku 4.5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3225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B65"/>
                </a:solidFill>
                <a:latin typeface="Calibri"/>
              </a:rPr>
              <a:t>Input ₹0.20/M tokens, Output ₹1.00/M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3225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A1A2E"/>
                </a:solidFill>
                <a:latin typeface="Calibri"/>
              </a:rPr>
              <a:t>~₹300 / month (pilot)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843784"/>
            <a:ext cx="86868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2843784"/>
            <a:ext cx="54864" cy="502920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88950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Google Gemini 1.5 Flash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88950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B65"/>
                </a:solidFill>
                <a:latin typeface="Calibri"/>
              </a:rPr>
              <a:t>Fallback provider — free tier generous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8895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A1A2E"/>
                </a:solidFill>
                <a:latin typeface="Calibri"/>
              </a:rPr>
              <a:t>~₹0 (fallback)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410712"/>
            <a:ext cx="8686800" cy="5029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410712"/>
            <a:ext cx="54864" cy="502920"/>
          </a:xfrm>
          <a:prstGeom prst="rect">
            <a:avLst/>
          </a:prstGeom>
          <a:solidFill>
            <a:srgbClr val="36454F"/>
          </a:solidFill>
          <a:ln>
            <a:solidFill>
              <a:srgbClr val="364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45643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GitHub Actions CI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34564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B65"/>
                </a:solidFill>
                <a:latin typeface="Calibri"/>
              </a:rPr>
              <a:t>2,000 min/month free tier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4564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A1A2E"/>
                </a:solidFill>
                <a:latin typeface="Calibri"/>
              </a:rPr>
              <a:t>₹0 (open source)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3977640"/>
            <a:ext cx="8686800" cy="502920"/>
          </a:xfrm>
          <a:prstGeom prst="rect">
            <a:avLst/>
          </a:prstGeom>
          <a:solidFill>
            <a:srgbClr val="D4EDDA"/>
          </a:solidFill>
          <a:ln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" y="3977640"/>
            <a:ext cx="54864" cy="502920"/>
          </a:xfrm>
          <a:prstGeom prst="rect">
            <a:avLst/>
          </a:prstGeom>
          <a:solidFill>
            <a:srgbClr val="6D2E46"/>
          </a:solidFill>
          <a:ln>
            <a:solidFill>
              <a:srgbClr val="6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0233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8158"/>
                </a:solidFill>
                <a:latin typeface="Calibri"/>
              </a:rPr>
              <a:t>TOTAL (pilot 6-month)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02336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B65"/>
                </a:solidFill>
                <a:latin typeface="Calibri"/>
              </a:rPr>
              <a:t>Cloud Run + SQL + LLM (Claude)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0233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58158"/>
                </a:solidFill>
                <a:latin typeface="Calibri"/>
              </a:rPr>
              <a:t>~₹14,400 (~$175 USD)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" y="4572000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B65"/>
                </a:solidFill>
                <a:latin typeface="Calibri"/>
              </a:rPr>
              <a:t>* Costs based on GCP asia-south1 list pricing, July 2026. Production scale depends on prospect volume.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CF3EE"/>
          </a:solidFill>
          <a:ln>
            <a:solidFill>
              <a:srgbClr val="EC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" y="490575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B65"/>
                </a:solidFill>
                <a:latin typeface="Calibri"/>
              </a:rPr>
              <a:t>Project Disha — IDBI Innovate 2026 | PS-2: Prospect Assist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Prototype Snapshots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6C9"/>
                </a:solidFill>
                <a:latin typeface="Calibri"/>
              </a:rPr>
              <a:t>Live Cloud Run deployment — API-tested and frontend-verified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IDBI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5029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6A817"/>
                </a:solidFill>
                <a:latin typeface="Calibri"/>
              </a:rPr>
              <a:t>PS-2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4251960" cy="27432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24712"/>
            <a:ext cx="4069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GET /api/v1/prospects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371600"/>
            <a:ext cx="4251960" cy="146304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417320"/>
            <a:ext cx="4069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{"prospect_id": "PR001",</a:t>
            </a:r>
          </a:p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"name": "Rajesh Kumar",</a:t>
            </a:r>
          </a:p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"lead_score": 78.0,</a:t>
            </a:r>
          </a:p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"lead_band": "Hot",</a:t>
            </a:r>
          </a:p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"recommended_product": "Home Loan"}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097280"/>
            <a:ext cx="4251960" cy="274320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124712"/>
            <a:ext cx="4069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GET /api/v1/score/PR001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371600"/>
            <a:ext cx="4251960" cy="146304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417320"/>
            <a:ext cx="4069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{"lead_score": 78.0, "band": "Hot",</a:t>
            </a:r>
          </a:p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"contributions": {</a:t>
            </a:r>
          </a:p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  "income": 24.5,</a:t>
            </a:r>
          </a:p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  "credit_bureau": 21.8,</a:t>
            </a:r>
          </a:p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  "digital_activity": 13.9 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971799"/>
            <a:ext cx="4251960" cy="274320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999231"/>
            <a:ext cx="4069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POST /api/v1/copilot/ask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246119"/>
            <a:ext cx="4251960" cy="146304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291839"/>
            <a:ext cx="4069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{"question": "Should I call PR001?",</a:t>
            </a:r>
          </a:p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 "rm_id": "RM01"}</a:t>
            </a:r>
          </a:p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→ answer: "Yes — score 78 (Hot). Home</a:t>
            </a:r>
          </a:p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  purchase event. Recommend Home Loan.</a:t>
            </a:r>
          </a:p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  provider: claude/claude-haiku-4-5"}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2971799"/>
            <a:ext cx="4251960" cy="274320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2999231"/>
            <a:ext cx="4069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GET /api/v1/reengagement/candidates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3246119"/>
            <a:ext cx="4251960" cy="1463040"/>
          </a:xfrm>
          <a:prstGeom prst="rect">
            <a:avLst/>
          </a:prstGeom>
          <a:solidFill>
            <a:srgbClr val="1A1A2E"/>
          </a:solidFill>
          <a:ln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291839"/>
            <a:ext cx="4069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[{"prospect_id": "PR009",</a:t>
            </a:r>
          </a:p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  "lead_band": "Cold",</a:t>
            </a:r>
          </a:p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  "urgency_score": 85,</a:t>
            </a:r>
          </a:p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  "whatsapp_script": "Hi Arjun...",</a:t>
            </a:r>
          </a:p>
          <a:p>
            <a:pPr algn="l"/>
            <a:r>
              <a:rPr sz="900" b="0">
                <a:solidFill>
                  <a:srgbClr val="A8D8A8"/>
                </a:solidFill>
                <a:latin typeface="Calibri"/>
              </a:rPr>
              <a:t>  "sms_script": "IDBI Bank: ..."}]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CF3EE"/>
          </a:solidFill>
          <a:ln>
            <a:solidFill>
              <a:srgbClr val="EC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" y="490575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B65"/>
                </a:solidFill>
                <a:latin typeface="Calibri"/>
              </a:rPr>
              <a:t>Project Disha — IDBI Innovate 2026 | PS-2: Prospect Assist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Prototype Performance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6C9"/>
                </a:solidFill>
                <a:latin typeface="Calibri"/>
              </a:rPr>
              <a:t>30+ tests across scoring, fairness, audit, agents, and APIs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IDBI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5029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6A817"/>
                </a:solidFill>
                <a:latin typeface="Calibri"/>
              </a:rPr>
              <a:t>PS-2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2011680" cy="96012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143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30+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E6C9"/>
                </a:solidFill>
                <a:latin typeface="Calibri"/>
              </a:rPr>
              <a:t>Test Cases (pytest)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4872" y="1097280"/>
            <a:ext cx="2011680" cy="960120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143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&lt;5ms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4872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E6C9"/>
                </a:solidFill>
                <a:latin typeface="Calibri"/>
              </a:rPr>
              <a:t>Lead Score Latency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81144" y="1097280"/>
            <a:ext cx="2011680" cy="960120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1143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E6C9"/>
                </a:solidFill>
                <a:latin typeface="Calibri"/>
              </a:rPr>
              <a:t>Fairness Pass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57416" y="1097280"/>
            <a:ext cx="2011680" cy="960120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57416" y="1143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2-layer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7416" y="1645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E6C9"/>
                </a:solidFill>
                <a:latin typeface="Calibri"/>
              </a:rPr>
              <a:t>Audit Immutability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194560"/>
            <a:ext cx="4251960" cy="27432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221992"/>
            <a:ext cx="4069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Scoring Engine (8 tests)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468880"/>
            <a:ext cx="4251960" cy="987552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514600"/>
            <a:ext cx="40690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Score range 0–100 verified</a:t>
            </a:r>
          </a:p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All 12 seed prospects scored correctly</a:t>
            </a:r>
          </a:p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Deterministic across re-runs</a:t>
            </a:r>
          </a:p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Life event boost applies correctly</a:t>
            </a:r>
          </a:p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Band thresholds: Hot≥70, Warm≥50, Lukewarm≥30, Cold&lt;30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194560"/>
            <a:ext cx="4251960" cy="274320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221992"/>
            <a:ext cx="4069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Fairness Regression (4 tests)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468880"/>
            <a:ext cx="4251960" cy="987552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2514600"/>
            <a:ext cx="40690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Score invariant to name change</a:t>
            </a:r>
          </a:p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Score invariant to city change</a:t>
            </a:r>
          </a:p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Score invariant to employer change</a:t>
            </a:r>
          </a:p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Score invariant to rm_id change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566160"/>
            <a:ext cx="4251960" cy="274320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593592"/>
            <a:ext cx="4069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Audit Immutability (7 tests)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840480"/>
            <a:ext cx="4251960" cy="987552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886200"/>
            <a:ext cx="40690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ORM listener blocks UPDATE via session</a:t>
            </a:r>
          </a:p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DB trigger rejects raw SQL UPDATE</a:t>
            </a:r>
          </a:p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DB trigger rejects raw SQL DELETE</a:t>
            </a:r>
          </a:p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Append-only INSERT always succeeds</a:t>
            </a:r>
          </a:p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Immutable error raises correct exception type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3566160"/>
            <a:ext cx="4251960" cy="274320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593592"/>
            <a:ext cx="4069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Multi-Agent (11 tests)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3840480"/>
            <a:ext cx="4251960" cy="987552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3886200"/>
            <a:ext cx="40690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Orchestrator returns score + NBA</a:t>
            </a:r>
          </a:p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Score matches direct scorer output</a:t>
            </a:r>
          </a:p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Re-engagement finds cold prospects</a:t>
            </a:r>
          </a:p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LLM governor rule-based fallback</a:t>
            </a:r>
          </a:p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Copilot returns provider header</a:t>
            </a:r>
          </a:p>
          <a:p>
            <a:pPr algn="l"/>
            <a:r>
              <a:rPr sz="900" b="0">
                <a:solidFill>
                  <a:srgbClr val="0D3B2F"/>
                </a:solidFill>
                <a:latin typeface="Calibri"/>
              </a:rPr>
              <a:t>✓ API endpoints 200-status verified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CF3EE"/>
          </a:solidFill>
          <a:ln>
            <a:solidFill>
              <a:srgbClr val="EC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" y="490575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B65"/>
                </a:solidFill>
                <a:latin typeface="Calibri"/>
              </a:rPr>
              <a:t>Project Disha — IDBI Innovate 2026 | PS-2: Prospect Assist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Future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669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6C9"/>
                </a:solidFill>
                <a:latin typeface="Calibri"/>
              </a:rPr>
              <a:t>Roadmap for production deployment at IDBI Bank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37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IDBI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5029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6A817"/>
                </a:solidFill>
                <a:latin typeface="Calibri"/>
              </a:rPr>
              <a:t>PS-2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97280"/>
            <a:ext cx="2788920" cy="34747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97280"/>
            <a:ext cx="2788920" cy="50292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115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 1 — Q3 2026
IDBI Sandbox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673352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▸  Connect IDBISandboxAdapter to live prospect API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▸  Replace synthetic seed data with real CRM feed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▸  Configure IDBI-specific NBA product catalogue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▸  Fairness audit with real demographic distribution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097280"/>
            <a:ext cx="2788920" cy="34747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4680" y="1097280"/>
            <a:ext cx="2788920" cy="502920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1115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 2 — Q4 2026
ML Model Upgrade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1673352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▸  Train XGBoost / LightGBM on IDBI historical conversions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▸  SHAP values from model — replace rule weights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▸  A/B test: deterministic scorer vs ML scorer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▸  Score drift monitoring dashboard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097280"/>
            <a:ext cx="2788920" cy="347472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1097280"/>
            <a:ext cx="2788920" cy="502920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11155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 3 — Q1 2027
Enterprise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1673352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▸  WhatsApp Business API direct integration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▸  RM performance analytics (conversion by score band)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▸  Multi-language copilot (Hindi + English)</a:t>
            </a:r>
          </a:p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▸  SOC 2 / RBI compliance audit trail export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709160"/>
            <a:ext cx="8686800" cy="137160"/>
          </a:xfrm>
          <a:prstGeom prst="rect">
            <a:avLst/>
          </a:prstGeom>
          <a:solidFill>
            <a:srgbClr val="D4EDDA"/>
          </a:solidFill>
          <a:ln>
            <a:solidFill>
              <a:srgbClr val="D4E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709160"/>
            <a:ext cx="8412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0D3B2F"/>
                </a:solidFill>
                <a:latin typeface="Calibri"/>
              </a:rPr>
              <a:t>RBI Regulatory Alignment: Explainable AI, append-only audit, data minimisation, fairness testing — all built in from Day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CF3EE"/>
          </a:solidFill>
          <a:ln>
            <a:solidFill>
              <a:srgbClr val="EC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490575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B65"/>
                </a:solidFill>
                <a:latin typeface="Calibri"/>
              </a:rPr>
              <a:t>Project Disha — IDBI Innovate 2026 | PS-2: Prospect Assist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8E6C9"/>
                </a:solidFill>
                <a:latin typeface="Calibri"/>
              </a:rPr>
              <a:t>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86868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DISHA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536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6A817"/>
                </a:solidFill>
                <a:latin typeface="Calibri"/>
              </a:rPr>
              <a:t>PS-2: Prospect Assist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38528"/>
            <a:ext cx="2560320" cy="27432"/>
          </a:xfrm>
          <a:prstGeom prst="rect">
            <a:avLst/>
          </a:prstGeom>
          <a:solidFill>
            <a:srgbClr val="C8E6C9"/>
          </a:solidFill>
          <a:ln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2057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E6C9"/>
                </a:solidFill>
                <a:latin typeface="Calibri"/>
              </a:rPr>
              <a:t>Built with: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235915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FastAPI · React · SQLAlchemy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26517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Claude Haiku · Gemini Flash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29443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Google Cloud Run · GitHub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" y="45262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A817"/>
                </a:solidFill>
                <a:latin typeface="Calibri"/>
              </a:rPr>
              <a:t>IDBI Innovate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0789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58158"/>
                </a:solidFill>
                <a:latin typeface="Calibri"/>
              </a:rPr>
              <a:t>Submission Links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1508760"/>
            <a:ext cx="5394960" cy="74980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508760"/>
            <a:ext cx="54864" cy="749808"/>
          </a:xfrm>
          <a:prstGeom prst="rect">
            <a:avLst/>
          </a:prstGeom>
          <a:solidFill>
            <a:srgbClr val="158158"/>
          </a:solidFill>
          <a:ln>
            <a:solidFill>
              <a:srgbClr val="158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56362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GitHub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78308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B65"/>
                </a:solidFill>
                <a:latin typeface="Calibri"/>
              </a:rPr>
              <a:t>Public source code — all 5 advanced Claude Code concepts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98424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8158"/>
                </a:solidFill>
                <a:latin typeface="Calibri"/>
              </a:rPr>
              <a:t>https://github.com/gowtham66867/Project-Disha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2350008"/>
            <a:ext cx="5394960" cy="74980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20440" y="2350008"/>
            <a:ext cx="54864" cy="749808"/>
          </a:xfrm>
          <a:prstGeom prst="rect">
            <a:avLst/>
          </a:prstGeom>
          <a:solidFill>
            <a:srgbClr val="058DC7"/>
          </a:solidFill>
          <a:ln>
            <a:solidFill>
              <a:srgbClr val="058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240487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Live Demo (Cloud Run)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62432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B65"/>
                </a:solidFill>
                <a:latin typeface="Calibri"/>
              </a:rPr>
              <a:t>Deployed on Google Cloud Run — asia-south1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82549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8DC7"/>
                </a:solidFill>
                <a:latin typeface="Calibri"/>
              </a:rPr>
              <a:t>https://disha-backend-1012823692058.asia-south1.run.app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3191256"/>
            <a:ext cx="5394960" cy="74980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20440" y="3191256"/>
            <a:ext cx="54864" cy="749808"/>
          </a:xfrm>
          <a:prstGeom prst="rect">
            <a:avLst/>
          </a:prstGeom>
          <a:solidFill>
            <a:srgbClr val="ED561B"/>
          </a:solidFill>
          <a:ln>
            <a:solidFill>
              <a:srgbClr val="ED5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24612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API Health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46557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B65"/>
                </a:solidFill>
                <a:latin typeface="Calibri"/>
              </a:rPr>
              <a:t>GET /health → {status: ok, version: 2.0.0}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66674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D561B"/>
                </a:solidFill>
                <a:latin typeface="Calibri"/>
              </a:rPr>
              <a:t>https://disha-backend-1012823692058.asia-south1.run.app/health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4032504"/>
            <a:ext cx="5394960" cy="74980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20440" y="4032504"/>
            <a:ext cx="54864" cy="749808"/>
          </a:xfrm>
          <a:prstGeom prst="rect">
            <a:avLst/>
          </a:prstGeom>
          <a:solidFill>
            <a:srgbClr val="0D3B2F"/>
          </a:solidFill>
          <a:ln>
            <a:solidFill>
              <a:srgbClr val="0D3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0" y="408736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API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30682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B65"/>
                </a:solidFill>
                <a:latin typeface="Calibri"/>
              </a:rPr>
              <a:t>Auto-generated FastAPI OpenAPI docs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50799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3B2F"/>
                </a:solidFill>
                <a:latin typeface="Calibri"/>
              </a:rPr>
              <a:t>https://disha-backend-1012823692058.asia-south1.run.app/docs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CF3EE"/>
          </a:solidFill>
          <a:ln>
            <a:solidFill>
              <a:srgbClr val="ECF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" y="4905756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6B65"/>
                </a:solidFill>
                <a:latin typeface="Calibri"/>
              </a:rPr>
              <a:t>NeuralOps Team | gowtham66866@gmail.com | IDBI Innovate 2026 — PS-2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